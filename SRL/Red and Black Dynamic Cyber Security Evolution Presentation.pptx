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CYN Modulator" charset="1" panose="02000503000000000000"/>
      <p:regular r:id="rId12"/>
    </p:embeddedFont>
    <p:embeddedFont>
      <p:font typeface="Nine by Five" charset="1" panose="000004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4000500" y="-4000500"/>
            <a:ext cx="10287000" cy="18288000"/>
          </a:xfrm>
          <a:custGeom>
            <a:avLst/>
            <a:gdLst/>
            <a:ahLst/>
            <a:cxnLst/>
            <a:rect r="r" b="b" t="t" l="l"/>
            <a:pathLst>
              <a:path h="18288000" w="10287000">
                <a:moveTo>
                  <a:pt x="10287000" y="0"/>
                </a:moveTo>
                <a:lnTo>
                  <a:pt x="10287000" y="18288000"/>
                </a:lnTo>
                <a:lnTo>
                  <a:pt x="0" y="18288000"/>
                </a:lnTo>
                <a:lnTo>
                  <a:pt x="0" y="0"/>
                </a:lnTo>
                <a:lnTo>
                  <a:pt x="10287000" y="0"/>
                </a:lnTo>
                <a:close/>
              </a:path>
            </a:pathLst>
          </a:custGeom>
          <a:blipFill>
            <a:blip r:embed="rId2"/>
            <a:stretch>
              <a:fillRect l="-9222" t="0" r="-9222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8586927" y="9253537"/>
            <a:ext cx="8672373" cy="0"/>
          </a:xfrm>
          <a:prstGeom prst="line">
            <a:avLst/>
          </a:prstGeom>
          <a:ln cap="flat" w="9525">
            <a:solidFill>
              <a:srgbClr val="C61A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6521024" y="9162880"/>
            <a:ext cx="738276" cy="95420"/>
            <a:chOff x="0" y="0"/>
            <a:chExt cx="194443" cy="2513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4443" cy="25131"/>
            </a:xfrm>
            <a:custGeom>
              <a:avLst/>
              <a:gdLst/>
              <a:ahLst/>
              <a:cxnLst/>
              <a:rect r="r" b="b" t="t" l="l"/>
              <a:pathLst>
                <a:path h="25131" w="194443">
                  <a:moveTo>
                    <a:pt x="0" y="0"/>
                  </a:moveTo>
                  <a:lnTo>
                    <a:pt x="194443" y="0"/>
                  </a:lnTo>
                  <a:lnTo>
                    <a:pt x="194443" y="25131"/>
                  </a:lnTo>
                  <a:lnTo>
                    <a:pt x="0" y="25131"/>
                  </a:lnTo>
                  <a:close/>
                </a:path>
              </a:pathLst>
            </a:custGeom>
            <a:solidFill>
              <a:srgbClr val="C61A3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4443" cy="6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-176959" y="4687181"/>
            <a:ext cx="17436259" cy="1459199"/>
            <a:chOff x="0" y="0"/>
            <a:chExt cx="4592266" cy="3843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92266" cy="384316"/>
            </a:xfrm>
            <a:custGeom>
              <a:avLst/>
              <a:gdLst/>
              <a:ahLst/>
              <a:cxnLst/>
              <a:rect r="r" b="b" t="t" l="l"/>
              <a:pathLst>
                <a:path h="384316" w="4592266">
                  <a:moveTo>
                    <a:pt x="0" y="0"/>
                  </a:moveTo>
                  <a:lnTo>
                    <a:pt x="4592266" y="0"/>
                  </a:lnTo>
                  <a:lnTo>
                    <a:pt x="4592266" y="384316"/>
                  </a:lnTo>
                  <a:lnTo>
                    <a:pt x="0" y="384316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592266" cy="365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1028700" y="8916788"/>
            <a:ext cx="341512" cy="341512"/>
          </a:xfrm>
          <a:custGeom>
            <a:avLst/>
            <a:gdLst/>
            <a:ahLst/>
            <a:cxnLst/>
            <a:rect r="r" b="b" t="t" l="l"/>
            <a:pathLst>
              <a:path h="341512" w="341512">
                <a:moveTo>
                  <a:pt x="0" y="341512"/>
                </a:moveTo>
                <a:lnTo>
                  <a:pt x="341512" y="341512"/>
                </a:lnTo>
                <a:lnTo>
                  <a:pt x="341512" y="0"/>
                </a:lnTo>
                <a:lnTo>
                  <a:pt x="0" y="0"/>
                </a:lnTo>
                <a:lnTo>
                  <a:pt x="0" y="3415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94601" y="4803980"/>
            <a:ext cx="14464699" cy="330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2044"/>
              </a:lnSpc>
            </a:pPr>
            <a:r>
              <a:rPr lang="en-US" sz="13235" spc="-661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A NOSSA ESCOLA E UMA REDE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1047750"/>
            <a:ext cx="2099745" cy="4472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8"/>
              </a:lnSpc>
            </a:pPr>
            <a:r>
              <a:rPr lang="en-US" sz="1800" spc="-89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RAFAEL, ANTONIO, 10°PI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172700" y="4394711"/>
            <a:ext cx="7086600" cy="4856578"/>
            <a:chOff x="0" y="0"/>
            <a:chExt cx="6889095" cy="472122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889095" cy="4721224"/>
            </a:xfrm>
            <a:custGeom>
              <a:avLst/>
              <a:gdLst/>
              <a:ahLst/>
              <a:cxnLst/>
              <a:rect r="r" b="b" t="t" l="l"/>
              <a:pathLst>
                <a:path h="4721224" w="6889095">
                  <a:moveTo>
                    <a:pt x="6729075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4561204"/>
                  </a:lnTo>
                  <a:lnTo>
                    <a:pt x="160020" y="4721224"/>
                  </a:lnTo>
                  <a:lnTo>
                    <a:pt x="6729075" y="4721224"/>
                  </a:lnTo>
                  <a:lnTo>
                    <a:pt x="6889095" y="4561204"/>
                  </a:lnTo>
                  <a:lnTo>
                    <a:pt x="6889095" y="160020"/>
                  </a:lnTo>
                  <a:lnTo>
                    <a:pt x="6729075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63500" y="82550"/>
              <a:ext cx="6762095" cy="45751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AutoShape 5" id="5"/>
          <p:cNvSpPr/>
          <p:nvPr/>
        </p:nvSpPr>
        <p:spPr>
          <a:xfrm flipV="true">
            <a:off x="11201404" y="6068708"/>
            <a:ext cx="5008265" cy="4762"/>
          </a:xfrm>
          <a:prstGeom prst="line">
            <a:avLst/>
          </a:prstGeom>
          <a:ln cap="flat" w="9525">
            <a:solidFill>
              <a:srgbClr val="C61A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5485070" y="5973288"/>
            <a:ext cx="738276" cy="95420"/>
            <a:chOff x="0" y="0"/>
            <a:chExt cx="194443" cy="2513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4443" cy="25131"/>
            </a:xfrm>
            <a:custGeom>
              <a:avLst/>
              <a:gdLst/>
              <a:ahLst/>
              <a:cxnLst/>
              <a:rect r="r" b="b" t="t" l="l"/>
              <a:pathLst>
                <a:path h="25131" w="194443">
                  <a:moveTo>
                    <a:pt x="0" y="0"/>
                  </a:moveTo>
                  <a:lnTo>
                    <a:pt x="194443" y="0"/>
                  </a:lnTo>
                  <a:lnTo>
                    <a:pt x="194443" y="25131"/>
                  </a:lnTo>
                  <a:lnTo>
                    <a:pt x="0" y="25131"/>
                  </a:lnTo>
                  <a:close/>
                </a:path>
              </a:pathLst>
            </a:custGeom>
            <a:solidFill>
              <a:srgbClr val="C61A34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4443" cy="6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true" rot="0">
            <a:off x="16052591" y="1028700"/>
            <a:ext cx="341512" cy="341512"/>
          </a:xfrm>
          <a:custGeom>
            <a:avLst/>
            <a:gdLst/>
            <a:ahLst/>
            <a:cxnLst/>
            <a:rect r="r" b="b" t="t" l="l"/>
            <a:pathLst>
              <a:path h="341512" w="341512">
                <a:moveTo>
                  <a:pt x="0" y="341512"/>
                </a:moveTo>
                <a:lnTo>
                  <a:pt x="341512" y="341512"/>
                </a:lnTo>
                <a:lnTo>
                  <a:pt x="341512" y="0"/>
                </a:lnTo>
                <a:lnTo>
                  <a:pt x="0" y="0"/>
                </a:lnTo>
                <a:lnTo>
                  <a:pt x="0" y="341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5400000">
            <a:off x="14715368" y="472026"/>
            <a:ext cx="3015958" cy="2071906"/>
            <a:chOff x="0" y="0"/>
            <a:chExt cx="794326" cy="54568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94326" cy="545687"/>
            </a:xfrm>
            <a:custGeom>
              <a:avLst/>
              <a:gdLst/>
              <a:ahLst/>
              <a:cxnLst/>
              <a:rect r="r" b="b" t="t" l="l"/>
              <a:pathLst>
                <a:path h="545687" w="794326">
                  <a:moveTo>
                    <a:pt x="0" y="0"/>
                  </a:moveTo>
                  <a:lnTo>
                    <a:pt x="794326" y="0"/>
                  </a:lnTo>
                  <a:lnTo>
                    <a:pt x="794326" y="545687"/>
                  </a:lnTo>
                  <a:lnTo>
                    <a:pt x="0" y="545687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794326" cy="5266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2053336" y="7278635"/>
            <a:ext cx="1335485" cy="1502079"/>
          </a:xfrm>
          <a:custGeom>
            <a:avLst/>
            <a:gdLst/>
            <a:ahLst/>
            <a:cxnLst/>
            <a:rect r="r" b="b" t="t" l="l"/>
            <a:pathLst>
              <a:path h="1502079" w="1335485">
                <a:moveTo>
                  <a:pt x="0" y="0"/>
                </a:moveTo>
                <a:lnTo>
                  <a:pt x="1335485" y="0"/>
                </a:lnTo>
                <a:lnTo>
                  <a:pt x="1335485" y="1502079"/>
                </a:lnTo>
                <a:lnTo>
                  <a:pt x="0" y="1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2053336" y="4866730"/>
            <a:ext cx="1298908" cy="1460939"/>
          </a:xfrm>
          <a:custGeom>
            <a:avLst/>
            <a:gdLst/>
            <a:ahLst/>
            <a:cxnLst/>
            <a:rect r="r" b="b" t="t" l="l"/>
            <a:pathLst>
              <a:path h="1460939" w="1298908">
                <a:moveTo>
                  <a:pt x="0" y="0"/>
                </a:moveTo>
                <a:lnTo>
                  <a:pt x="1298907" y="0"/>
                </a:lnTo>
                <a:lnTo>
                  <a:pt x="1298907" y="1460939"/>
                </a:lnTo>
                <a:lnTo>
                  <a:pt x="0" y="14609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2016759" y="2513267"/>
            <a:ext cx="1335485" cy="1502079"/>
          </a:xfrm>
          <a:custGeom>
            <a:avLst/>
            <a:gdLst/>
            <a:ahLst/>
            <a:cxnLst/>
            <a:rect r="r" b="b" t="t" l="l"/>
            <a:pathLst>
              <a:path h="1502079" w="1335485">
                <a:moveTo>
                  <a:pt x="0" y="0"/>
                </a:moveTo>
                <a:lnTo>
                  <a:pt x="1335484" y="0"/>
                </a:lnTo>
                <a:lnTo>
                  <a:pt x="1335484" y="1502079"/>
                </a:lnTo>
                <a:lnTo>
                  <a:pt x="0" y="15020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3834861" y="3529661"/>
            <a:ext cx="2296123" cy="1403244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6904065" y="4670376"/>
            <a:ext cx="1849362" cy="2806189"/>
          </a:xfrm>
          <a:custGeom>
            <a:avLst/>
            <a:gdLst/>
            <a:ahLst/>
            <a:cxnLst/>
            <a:rect r="r" b="b" t="t" l="l"/>
            <a:pathLst>
              <a:path h="2806189" w="1849362">
                <a:moveTo>
                  <a:pt x="0" y="0"/>
                </a:moveTo>
                <a:lnTo>
                  <a:pt x="1849362" y="0"/>
                </a:lnTo>
                <a:lnTo>
                  <a:pt x="1849362" y="2806189"/>
                </a:lnTo>
                <a:lnTo>
                  <a:pt x="0" y="28061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28700" y="1162050"/>
            <a:ext cx="7634812" cy="1853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56"/>
              </a:lnSpc>
            </a:pPr>
            <a:r>
              <a:rPr lang="en-US" sz="7424" spc="-371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UTILIZADORES</a:t>
            </a:r>
          </a:p>
          <a:p>
            <a:pPr algn="l">
              <a:lnSpc>
                <a:spcPts val="675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679906" y="6384819"/>
            <a:ext cx="6579394" cy="154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0"/>
              </a:lnSpc>
            </a:pPr>
          </a:p>
          <a:p>
            <a:pPr algn="l">
              <a:lnSpc>
                <a:spcPts val="2390"/>
              </a:lnSpc>
            </a:pPr>
            <a:r>
              <a:rPr lang="en-US" sz="26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 Os alunos usam para estudar e</a:t>
            </a:r>
            <a:r>
              <a:rPr lang="en-US" sz="26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 fazer trabalhos.</a:t>
            </a:r>
          </a:p>
          <a:p>
            <a:pPr algn="l">
              <a:lnSpc>
                <a:spcPts val="2390"/>
              </a:lnSpc>
            </a:pPr>
            <a:r>
              <a:rPr lang="en-US" sz="26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 Os professores usam para ensinar e partilhar materiais.</a:t>
            </a:r>
          </a:p>
          <a:p>
            <a:pPr algn="l">
              <a:lnSpc>
                <a:spcPts val="2390"/>
              </a:lnSpc>
            </a:pPr>
            <a:r>
              <a:rPr lang="en-US" sz="26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 Os funcionários  usam para gerir a escola</a:t>
            </a:r>
          </a:p>
          <a:p>
            <a:pPr algn="l">
              <a:lnSpc>
                <a:spcPts val="239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10864340" y="5056354"/>
            <a:ext cx="5529762" cy="1017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2"/>
              </a:lnSpc>
            </a:pPr>
            <a:r>
              <a:rPr lang="en-US" sz="2870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OS UTILIZADORES SÃO TODAS AS PESSOAS QUE USAM A REDE.</a:t>
            </a:r>
          </a:p>
          <a:p>
            <a:pPr algn="l">
              <a:lnSpc>
                <a:spcPts val="2612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617229" y="4269384"/>
            <a:ext cx="2207699" cy="28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46" spc="-107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PROFESSORES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248394" y="6584844"/>
            <a:ext cx="2207699" cy="28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46" spc="-107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ALUNOS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2287" y="9002069"/>
            <a:ext cx="2643806" cy="536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46" spc="-107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FUNCIONÁRIOS</a:t>
            </a:r>
          </a:p>
          <a:p>
            <a:pPr algn="l">
              <a:lnSpc>
                <a:spcPts val="1953"/>
              </a:lnSpc>
            </a:pPr>
          </a:p>
        </p:txBody>
      </p:sp>
      <p:sp>
        <p:nvSpPr>
          <p:cNvPr name="AutoShape 24" id="24"/>
          <p:cNvSpPr/>
          <p:nvPr/>
        </p:nvSpPr>
        <p:spPr>
          <a:xfrm>
            <a:off x="3834861" y="5973288"/>
            <a:ext cx="2296123" cy="0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5" id="25"/>
          <p:cNvSpPr/>
          <p:nvPr/>
        </p:nvSpPr>
        <p:spPr>
          <a:xfrm flipV="true">
            <a:off x="3834861" y="7278635"/>
            <a:ext cx="2296123" cy="950965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6" id="26"/>
          <p:cNvSpPr txBox="true"/>
          <p:nvPr/>
        </p:nvSpPr>
        <p:spPr>
          <a:xfrm rot="0">
            <a:off x="7051638" y="7514665"/>
            <a:ext cx="2207699" cy="288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3"/>
              </a:lnSpc>
            </a:pPr>
            <a:r>
              <a:rPr lang="en-US" sz="2146" spc="-107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SERVIDOR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14350" y="797035"/>
            <a:ext cx="9412155" cy="2011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25"/>
              </a:lnSpc>
            </a:pPr>
            <a:r>
              <a:rPr lang="en-US" sz="8050" spc="-402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SEGURANÇA</a:t>
            </a:r>
          </a:p>
          <a:p>
            <a:pPr algn="l">
              <a:lnSpc>
                <a:spcPts val="7325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5400000">
            <a:off x="11932613" y="-4022579"/>
            <a:ext cx="1310739" cy="9342636"/>
            <a:chOff x="0" y="0"/>
            <a:chExt cx="345215" cy="24606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45215" cy="2460612"/>
            </a:xfrm>
            <a:custGeom>
              <a:avLst/>
              <a:gdLst/>
              <a:ahLst/>
              <a:cxnLst/>
              <a:rect r="r" b="b" t="t" l="l"/>
              <a:pathLst>
                <a:path h="2460612" w="345215">
                  <a:moveTo>
                    <a:pt x="0" y="0"/>
                  </a:moveTo>
                  <a:lnTo>
                    <a:pt x="345215" y="0"/>
                  </a:lnTo>
                  <a:lnTo>
                    <a:pt x="345215" y="2460612"/>
                  </a:lnTo>
                  <a:lnTo>
                    <a:pt x="0" y="2460612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345215" cy="24415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916664" y="1446182"/>
            <a:ext cx="9342636" cy="5816182"/>
            <a:chOff x="0" y="0"/>
            <a:chExt cx="6628413" cy="412646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628413" cy="4126464"/>
            </a:xfrm>
            <a:custGeom>
              <a:avLst/>
              <a:gdLst/>
              <a:ahLst/>
              <a:cxnLst/>
              <a:rect r="r" b="b" t="t" l="l"/>
              <a:pathLst>
                <a:path h="4126464" w="6628413">
                  <a:moveTo>
                    <a:pt x="6468393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3966444"/>
                  </a:lnTo>
                  <a:lnTo>
                    <a:pt x="160020" y="4126464"/>
                  </a:lnTo>
                  <a:lnTo>
                    <a:pt x="6468393" y="4126464"/>
                  </a:lnTo>
                  <a:lnTo>
                    <a:pt x="6628413" y="3966444"/>
                  </a:lnTo>
                  <a:lnTo>
                    <a:pt x="6628413" y="160020"/>
                  </a:lnTo>
                  <a:lnTo>
                    <a:pt x="6468393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82550"/>
              <a:ext cx="6501413" cy="39804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7681104" y="1568434"/>
            <a:ext cx="9578196" cy="5265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19"/>
              </a:lnSpc>
            </a:pPr>
            <a:r>
              <a:rPr lang="en-US" sz="419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EXPLICACAO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6006674" y="1683878"/>
            <a:ext cx="738276" cy="95420"/>
            <a:chOff x="0" y="0"/>
            <a:chExt cx="194443" cy="2513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94443" cy="25131"/>
            </a:xfrm>
            <a:custGeom>
              <a:avLst/>
              <a:gdLst/>
              <a:ahLst/>
              <a:cxnLst/>
              <a:rect r="r" b="b" t="t" l="l"/>
              <a:pathLst>
                <a:path h="25131" w="194443">
                  <a:moveTo>
                    <a:pt x="0" y="0"/>
                  </a:moveTo>
                  <a:lnTo>
                    <a:pt x="194443" y="0"/>
                  </a:lnTo>
                  <a:lnTo>
                    <a:pt x="194443" y="25131"/>
                  </a:lnTo>
                  <a:lnTo>
                    <a:pt x="0" y="25131"/>
                  </a:lnTo>
                  <a:close/>
                </a:path>
              </a:pathLst>
            </a:custGeom>
            <a:solidFill>
              <a:srgbClr val="C61A34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94443" cy="6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8620203" y="2180807"/>
            <a:ext cx="8124743" cy="7335"/>
          </a:xfrm>
          <a:prstGeom prst="line">
            <a:avLst/>
          </a:prstGeom>
          <a:ln cap="flat" w="9525">
            <a:solidFill>
              <a:srgbClr val="C61A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true" rot="0">
            <a:off x="6758417" y="1028700"/>
            <a:ext cx="550817" cy="550817"/>
          </a:xfrm>
          <a:custGeom>
            <a:avLst/>
            <a:gdLst/>
            <a:ahLst/>
            <a:cxnLst/>
            <a:rect r="r" b="b" t="t" l="l"/>
            <a:pathLst>
              <a:path h="550817" w="550817">
                <a:moveTo>
                  <a:pt x="0" y="550817"/>
                </a:moveTo>
                <a:lnTo>
                  <a:pt x="550816" y="550817"/>
                </a:lnTo>
                <a:lnTo>
                  <a:pt x="550816" y="0"/>
                </a:lnTo>
                <a:lnTo>
                  <a:pt x="0" y="0"/>
                </a:lnTo>
                <a:lnTo>
                  <a:pt x="0" y="550817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2553" y="5353167"/>
            <a:ext cx="6046833" cy="6046833"/>
          </a:xfrm>
          <a:custGeom>
            <a:avLst/>
            <a:gdLst/>
            <a:ahLst/>
            <a:cxnLst/>
            <a:rect r="r" b="b" t="t" l="l"/>
            <a:pathLst>
              <a:path h="6046833" w="6046833">
                <a:moveTo>
                  <a:pt x="0" y="0"/>
                </a:moveTo>
                <a:lnTo>
                  <a:pt x="6046832" y="0"/>
                </a:lnTo>
                <a:lnTo>
                  <a:pt x="6046832" y="6046833"/>
                </a:lnTo>
                <a:lnTo>
                  <a:pt x="0" y="60468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868050" y="3685316"/>
            <a:ext cx="3094566" cy="2818868"/>
          </a:xfrm>
          <a:custGeom>
            <a:avLst/>
            <a:gdLst/>
            <a:ahLst/>
            <a:cxnLst/>
            <a:rect r="r" b="b" t="t" l="l"/>
            <a:pathLst>
              <a:path h="2818868" w="3094566">
                <a:moveTo>
                  <a:pt x="0" y="0"/>
                </a:moveTo>
                <a:lnTo>
                  <a:pt x="3094566" y="0"/>
                </a:lnTo>
                <a:lnTo>
                  <a:pt x="3094566" y="2818868"/>
                </a:lnTo>
                <a:lnTo>
                  <a:pt x="0" y="28188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368506" y="3630174"/>
            <a:ext cx="5004387" cy="221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19233" indent="-409617" lvl="1">
              <a:lnSpc>
                <a:spcPts val="3452"/>
              </a:lnSpc>
              <a:buFont typeface="Arial"/>
              <a:buChar char="•"/>
            </a:pPr>
            <a:r>
              <a:rPr lang="en-US" sz="3794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Senhas fortes</a:t>
            </a:r>
          </a:p>
          <a:p>
            <a:pPr algn="l" marL="819233" indent="-409617" lvl="1">
              <a:lnSpc>
                <a:spcPts val="3452"/>
              </a:lnSpc>
              <a:buFont typeface="Arial"/>
              <a:buChar char="•"/>
            </a:pPr>
            <a:r>
              <a:rPr lang="en-US" sz="3794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Antivirus</a:t>
            </a:r>
          </a:p>
          <a:p>
            <a:pPr algn="l" marL="819233" indent="-409617" lvl="1">
              <a:lnSpc>
                <a:spcPts val="3452"/>
              </a:lnSpc>
              <a:buFont typeface="Arial"/>
              <a:buChar char="•"/>
            </a:pPr>
            <a:r>
              <a:rPr lang="en-US" sz="3794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Firewall</a:t>
            </a:r>
          </a:p>
          <a:p>
            <a:pPr algn="l" marL="819233" indent="-409617" lvl="1">
              <a:lnSpc>
                <a:spcPts val="3452"/>
              </a:lnSpc>
              <a:buFont typeface="Arial"/>
              <a:buChar char="•"/>
            </a:pPr>
            <a:r>
              <a:rPr lang="en-US" sz="3794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Contas individuais</a:t>
            </a:r>
          </a:p>
          <a:p>
            <a:pPr algn="l">
              <a:lnSpc>
                <a:spcPts val="3452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8286544" y="2630986"/>
            <a:ext cx="3967779" cy="147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3132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As senhas fortes evitam que outras pessoas entrem nas contas</a:t>
            </a: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-1123731" y="2014120"/>
            <a:ext cx="7882148" cy="433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3"/>
              </a:lnSpc>
            </a:pPr>
            <a:r>
              <a:rPr lang="en-US" sz="3454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COMO PROTEGEMOS OS SERVIÇOS ?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286544" y="4117977"/>
            <a:ext cx="3967779" cy="14715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sz="3132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O antivírus protege contra vírus e malware</a:t>
            </a:r>
          </a:p>
          <a:p>
            <a:pPr algn="l">
              <a:lnSpc>
                <a:spcPts val="2850"/>
              </a:lnSpc>
            </a:pPr>
          </a:p>
          <a:p>
            <a:pPr algn="l">
              <a:lnSpc>
                <a:spcPts val="285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8286544" y="5419842"/>
            <a:ext cx="3850000" cy="1435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6"/>
              </a:lnSpc>
            </a:pPr>
            <a:r>
              <a:rPr lang="en-US" sz="303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A firewall controla o que entra e sai da rede</a:t>
            </a:r>
          </a:p>
          <a:p>
            <a:pPr algn="l">
              <a:lnSpc>
                <a:spcPts val="2766"/>
              </a:lnSpc>
            </a:pPr>
          </a:p>
          <a:p>
            <a:pPr algn="l">
              <a:lnSpc>
                <a:spcPts val="2766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2587982" y="2630986"/>
            <a:ext cx="4315943" cy="1432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8"/>
              </a:lnSpc>
            </a:pPr>
            <a:r>
              <a:rPr lang="en-US" sz="3053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As contas individuais garantem que cada pessoa só acede ao que deve</a:t>
            </a:r>
          </a:p>
          <a:p>
            <a:pPr algn="l">
              <a:lnSpc>
                <a:spcPts val="2778"/>
              </a:lnSpc>
            </a:pPr>
          </a:p>
          <a:p>
            <a:pPr algn="l">
              <a:lnSpc>
                <a:spcPts val="2778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0" y="2529158"/>
            <a:ext cx="8115295" cy="53070"/>
          </a:xfrm>
          <a:prstGeom prst="line">
            <a:avLst/>
          </a:prstGeom>
          <a:ln cap="flat" w="9525">
            <a:solidFill>
              <a:srgbClr val="C61A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true" rot="0">
            <a:off x="9943981" y="2240715"/>
            <a:ext cx="341512" cy="341512"/>
          </a:xfrm>
          <a:custGeom>
            <a:avLst/>
            <a:gdLst/>
            <a:ahLst/>
            <a:cxnLst/>
            <a:rect r="r" b="b" t="t" l="l"/>
            <a:pathLst>
              <a:path h="341512" w="341512">
                <a:moveTo>
                  <a:pt x="0" y="341512"/>
                </a:moveTo>
                <a:lnTo>
                  <a:pt x="341512" y="341512"/>
                </a:lnTo>
                <a:lnTo>
                  <a:pt x="341512" y="0"/>
                </a:lnTo>
                <a:lnTo>
                  <a:pt x="0" y="0"/>
                </a:lnTo>
                <a:lnTo>
                  <a:pt x="0" y="341512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400000">
            <a:off x="11575304" y="7397572"/>
            <a:ext cx="2628317" cy="3150539"/>
            <a:chOff x="0" y="0"/>
            <a:chExt cx="692232" cy="8297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92232" cy="829772"/>
            </a:xfrm>
            <a:custGeom>
              <a:avLst/>
              <a:gdLst/>
              <a:ahLst/>
              <a:cxnLst/>
              <a:rect r="r" b="b" t="t" l="l"/>
              <a:pathLst>
                <a:path h="829772" w="692232">
                  <a:moveTo>
                    <a:pt x="0" y="0"/>
                  </a:moveTo>
                  <a:lnTo>
                    <a:pt x="692232" y="0"/>
                  </a:lnTo>
                  <a:lnTo>
                    <a:pt x="692232" y="829772"/>
                  </a:lnTo>
                  <a:lnTo>
                    <a:pt x="0" y="829772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692232" cy="8107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96663" y="7324881"/>
            <a:ext cx="4371221" cy="2744147"/>
            <a:chOff x="0" y="0"/>
            <a:chExt cx="4249394" cy="266766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249394" cy="2667667"/>
            </a:xfrm>
            <a:custGeom>
              <a:avLst/>
              <a:gdLst/>
              <a:ahLst/>
              <a:cxnLst/>
              <a:rect r="r" b="b" t="t" l="l"/>
              <a:pathLst>
                <a:path h="2667667" w="4249394">
                  <a:moveTo>
                    <a:pt x="4089374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2507647"/>
                  </a:lnTo>
                  <a:lnTo>
                    <a:pt x="160020" y="2667667"/>
                  </a:lnTo>
                  <a:lnTo>
                    <a:pt x="4089374" y="2667667"/>
                  </a:lnTo>
                  <a:lnTo>
                    <a:pt x="4249394" y="2507647"/>
                  </a:lnTo>
                  <a:lnTo>
                    <a:pt x="4249394" y="160020"/>
                  </a:lnTo>
                  <a:lnTo>
                    <a:pt x="4089374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63500" y="82550"/>
              <a:ext cx="4122394" cy="25216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6627837" y="4365476"/>
            <a:ext cx="3481654" cy="2760002"/>
          </a:xfrm>
          <a:custGeom>
            <a:avLst/>
            <a:gdLst/>
            <a:ahLst/>
            <a:cxnLst/>
            <a:rect r="r" b="b" t="t" l="l"/>
            <a:pathLst>
              <a:path h="2760002" w="3481654">
                <a:moveTo>
                  <a:pt x="0" y="0"/>
                </a:moveTo>
                <a:lnTo>
                  <a:pt x="3481654" y="0"/>
                </a:lnTo>
                <a:lnTo>
                  <a:pt x="3481654" y="2760002"/>
                </a:lnTo>
                <a:lnTo>
                  <a:pt x="0" y="27600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0468373" y="167927"/>
            <a:ext cx="7227736" cy="740664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028700" y="908972"/>
            <a:ext cx="10285493" cy="929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3"/>
              </a:lnSpc>
            </a:pPr>
            <a:r>
              <a:rPr lang="en-US" sz="6915" spc="-345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RECURSOS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2608437" y="3870096"/>
            <a:ext cx="9362177" cy="2615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1209440" indent="-604720" lvl="1">
              <a:lnSpc>
                <a:spcPts val="5097"/>
              </a:lnSpc>
              <a:buFont typeface="Arial"/>
              <a:buChar char="•"/>
            </a:pPr>
            <a:r>
              <a:rPr lang="en-US" sz="5601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Impressora </a:t>
            </a:r>
          </a:p>
          <a:p>
            <a:pPr algn="ctr" marL="1209440" indent="-604720" lvl="1">
              <a:lnSpc>
                <a:spcPts val="5097"/>
              </a:lnSpc>
              <a:buFont typeface="Arial"/>
              <a:buChar char="•"/>
            </a:pPr>
            <a:r>
              <a:rPr lang="en-US" sz="5601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Ficheiros</a:t>
            </a:r>
          </a:p>
          <a:p>
            <a:pPr algn="ctr" marL="1209440" indent="-604720" lvl="1">
              <a:lnSpc>
                <a:spcPts val="5097"/>
              </a:lnSpc>
              <a:buFont typeface="Arial"/>
              <a:buChar char="•"/>
            </a:pPr>
            <a:r>
              <a:rPr lang="en-US" sz="5601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Wi-Fi</a:t>
            </a:r>
          </a:p>
          <a:p>
            <a:pPr algn="ctr">
              <a:lnSpc>
                <a:spcPts val="509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606901" y="1734435"/>
            <a:ext cx="6787338" cy="6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59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OS RECURSOS SÃO TUDO O QUE PODE SER PARTILHADO NA REDE</a:t>
            </a:r>
          </a:p>
          <a:p>
            <a:pPr algn="ctr">
              <a:lnSpc>
                <a:spcPts val="2365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850015" y="2102349"/>
            <a:ext cx="3342521" cy="333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59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O QUE E QUE A REDE PARTILHA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086501"/>
            <a:ext cx="4203519" cy="6104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8"/>
              </a:lnSpc>
            </a:pPr>
            <a:r>
              <a:rPr lang="en-US" sz="2515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A internet é partilhada por todos</a:t>
            </a:r>
          </a:p>
          <a:p>
            <a:pPr algn="ctr">
              <a:lnSpc>
                <a:spcPts val="2288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196663" y="8754105"/>
            <a:ext cx="4371221" cy="9360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2615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Os ficheiros podem ser guardados num servidor ou na cloud</a:t>
            </a:r>
          </a:p>
          <a:p>
            <a:pPr algn="ctr">
              <a:lnSpc>
                <a:spcPts val="2380"/>
              </a:lnSpc>
            </a:pPr>
          </a:p>
        </p:txBody>
      </p:sp>
      <p:sp>
        <p:nvSpPr>
          <p:cNvPr name="AutoShape 18" id="18"/>
          <p:cNvSpPr/>
          <p:nvPr/>
        </p:nvSpPr>
        <p:spPr>
          <a:xfrm flipH="true" flipV="true">
            <a:off x="4000570" y="4167390"/>
            <a:ext cx="2170876" cy="686374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9" id="19"/>
          <p:cNvSpPr/>
          <p:nvPr/>
        </p:nvSpPr>
        <p:spPr>
          <a:xfrm flipH="true" flipV="true">
            <a:off x="4000570" y="4853764"/>
            <a:ext cx="2170876" cy="289736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20" id="20"/>
          <p:cNvSpPr/>
          <p:nvPr/>
        </p:nvSpPr>
        <p:spPr>
          <a:xfrm flipH="true" flipV="true">
            <a:off x="3842781" y="5438203"/>
            <a:ext cx="2328666" cy="0"/>
          </a:xfrm>
          <a:prstGeom prst="line">
            <a:avLst/>
          </a:prstGeom>
          <a:ln cap="flat" w="38100">
            <a:solidFill>
              <a:srgbClr val="C61A3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1" id="21"/>
          <p:cNvSpPr txBox="true"/>
          <p:nvPr/>
        </p:nvSpPr>
        <p:spPr>
          <a:xfrm rot="0">
            <a:off x="5166961" y="7392178"/>
            <a:ext cx="6403406" cy="474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6"/>
              </a:lnSpc>
            </a:pPr>
            <a:r>
              <a:rPr lang="en-US" sz="3831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Internet 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061254" y="1238250"/>
            <a:ext cx="9486384" cy="2756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085"/>
              </a:lnSpc>
            </a:pPr>
            <a:r>
              <a:rPr lang="en-US" sz="11082" spc="-554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PROBLEMA &amp; SOLUCOES 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3061621" y="7199754"/>
            <a:ext cx="4197679" cy="2058546"/>
            <a:chOff x="0" y="0"/>
            <a:chExt cx="4080689" cy="200117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80689" cy="2001173"/>
            </a:xfrm>
            <a:custGeom>
              <a:avLst/>
              <a:gdLst/>
              <a:ahLst/>
              <a:cxnLst/>
              <a:rect r="r" b="b" t="t" l="l"/>
              <a:pathLst>
                <a:path h="2001173" w="4080689">
                  <a:moveTo>
                    <a:pt x="392066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154"/>
                  </a:lnTo>
                  <a:lnTo>
                    <a:pt x="160020" y="2001173"/>
                  </a:lnTo>
                  <a:lnTo>
                    <a:pt x="3920669" y="2001173"/>
                  </a:lnTo>
                  <a:lnTo>
                    <a:pt x="4080689" y="1841154"/>
                  </a:lnTo>
                  <a:lnTo>
                    <a:pt x="4080689" y="160020"/>
                  </a:lnTo>
                  <a:lnTo>
                    <a:pt x="3920669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63500" y="82550"/>
              <a:ext cx="3953689" cy="1855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061621" y="4633870"/>
            <a:ext cx="4197679" cy="2058546"/>
            <a:chOff x="0" y="0"/>
            <a:chExt cx="4080689" cy="20011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80689" cy="2001173"/>
            </a:xfrm>
            <a:custGeom>
              <a:avLst/>
              <a:gdLst/>
              <a:ahLst/>
              <a:cxnLst/>
              <a:rect r="r" b="b" t="t" l="l"/>
              <a:pathLst>
                <a:path h="2001173" w="4080689">
                  <a:moveTo>
                    <a:pt x="392066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154"/>
                  </a:lnTo>
                  <a:lnTo>
                    <a:pt x="160020" y="2001173"/>
                  </a:lnTo>
                  <a:lnTo>
                    <a:pt x="3920669" y="2001173"/>
                  </a:lnTo>
                  <a:lnTo>
                    <a:pt x="4080689" y="1841154"/>
                  </a:lnTo>
                  <a:lnTo>
                    <a:pt x="4080689" y="160020"/>
                  </a:lnTo>
                  <a:lnTo>
                    <a:pt x="3920669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63500" y="82550"/>
              <a:ext cx="3953689" cy="1855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8349592" y="7190961"/>
            <a:ext cx="4197679" cy="2058546"/>
            <a:chOff x="0" y="0"/>
            <a:chExt cx="4080689" cy="20011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80689" cy="2001173"/>
            </a:xfrm>
            <a:custGeom>
              <a:avLst/>
              <a:gdLst/>
              <a:ahLst/>
              <a:cxnLst/>
              <a:rect r="r" b="b" t="t" l="l"/>
              <a:pathLst>
                <a:path h="2001173" w="4080689">
                  <a:moveTo>
                    <a:pt x="392066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154"/>
                  </a:lnTo>
                  <a:lnTo>
                    <a:pt x="160020" y="2001173"/>
                  </a:lnTo>
                  <a:lnTo>
                    <a:pt x="3920669" y="2001173"/>
                  </a:lnTo>
                  <a:lnTo>
                    <a:pt x="4080689" y="1841154"/>
                  </a:lnTo>
                  <a:lnTo>
                    <a:pt x="4080689" y="160020"/>
                  </a:lnTo>
                  <a:lnTo>
                    <a:pt x="3920669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63500" y="82550"/>
              <a:ext cx="3953689" cy="1855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8349592" y="4633870"/>
            <a:ext cx="4197679" cy="2058546"/>
            <a:chOff x="0" y="0"/>
            <a:chExt cx="4080689" cy="20011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80689" cy="2001173"/>
            </a:xfrm>
            <a:custGeom>
              <a:avLst/>
              <a:gdLst/>
              <a:ahLst/>
              <a:cxnLst/>
              <a:rect r="r" b="b" t="t" l="l"/>
              <a:pathLst>
                <a:path h="2001173" w="4080689">
                  <a:moveTo>
                    <a:pt x="3920669" y="0"/>
                  </a:moveTo>
                  <a:lnTo>
                    <a:pt x="160020" y="0"/>
                  </a:lnTo>
                  <a:lnTo>
                    <a:pt x="0" y="160020"/>
                  </a:lnTo>
                  <a:lnTo>
                    <a:pt x="0" y="1841154"/>
                  </a:lnTo>
                  <a:lnTo>
                    <a:pt x="160020" y="2001173"/>
                  </a:lnTo>
                  <a:lnTo>
                    <a:pt x="3920669" y="2001173"/>
                  </a:lnTo>
                  <a:lnTo>
                    <a:pt x="4080689" y="1841154"/>
                  </a:lnTo>
                  <a:lnTo>
                    <a:pt x="4080689" y="160020"/>
                  </a:lnTo>
                  <a:lnTo>
                    <a:pt x="3920669" y="0"/>
                  </a:lnTo>
                  <a:close/>
                </a:path>
              </a:pathLst>
            </a:custGeom>
            <a:solidFill>
              <a:srgbClr val="000000"/>
            </a:solidFill>
            <a:ln w="9525" cap="sq">
              <a:solidFill>
                <a:srgbClr val="C61A34"/>
              </a:soli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63500" y="82550"/>
              <a:ext cx="3953689" cy="18551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2569751"/>
            <a:ext cx="6292192" cy="6688549"/>
            <a:chOff x="0" y="0"/>
            <a:chExt cx="7562731" cy="80391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562731" cy="8039122"/>
            </a:xfrm>
            <a:custGeom>
              <a:avLst/>
              <a:gdLst/>
              <a:ahLst/>
              <a:cxnLst/>
              <a:rect r="r" b="b" t="t" l="l"/>
              <a:pathLst>
                <a:path h="8039122" w="7562731">
                  <a:moveTo>
                    <a:pt x="7324606" y="0"/>
                  </a:moveTo>
                  <a:lnTo>
                    <a:pt x="7562731" y="238125"/>
                  </a:lnTo>
                  <a:lnTo>
                    <a:pt x="7562731" y="7800997"/>
                  </a:lnTo>
                  <a:lnTo>
                    <a:pt x="7324606" y="8039122"/>
                  </a:lnTo>
                  <a:lnTo>
                    <a:pt x="238125" y="8039122"/>
                  </a:lnTo>
                  <a:lnTo>
                    <a:pt x="0" y="7800997"/>
                  </a:lnTo>
                  <a:lnTo>
                    <a:pt x="0" y="238125"/>
                  </a:lnTo>
                  <a:lnTo>
                    <a:pt x="238125" y="0"/>
                  </a:lnTo>
                  <a:lnTo>
                    <a:pt x="7324606" y="0"/>
                  </a:lnTo>
                  <a:close/>
                </a:path>
              </a:pathLst>
            </a:custGeom>
            <a:blipFill>
              <a:blip r:embed="rId2"/>
              <a:stretch>
                <a:fillRect l="-29774" t="0" r="-29774" b="0"/>
              </a:stretch>
            </a:blipFill>
          </p:spPr>
        </p:sp>
      </p:grpSp>
      <p:sp>
        <p:nvSpPr>
          <p:cNvPr name="AutoShape 17" id="17"/>
          <p:cNvSpPr/>
          <p:nvPr/>
        </p:nvSpPr>
        <p:spPr>
          <a:xfrm>
            <a:off x="1028705" y="1934766"/>
            <a:ext cx="6292187" cy="0"/>
          </a:xfrm>
          <a:prstGeom prst="line">
            <a:avLst/>
          </a:prstGeom>
          <a:ln cap="flat" w="9525">
            <a:solidFill>
              <a:srgbClr val="C61A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6582616" y="1114150"/>
            <a:ext cx="738276" cy="95420"/>
            <a:chOff x="0" y="0"/>
            <a:chExt cx="194443" cy="2513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4443" cy="25131"/>
            </a:xfrm>
            <a:custGeom>
              <a:avLst/>
              <a:gdLst/>
              <a:ahLst/>
              <a:cxnLst/>
              <a:rect r="r" b="b" t="t" l="l"/>
              <a:pathLst>
                <a:path h="25131" w="194443">
                  <a:moveTo>
                    <a:pt x="0" y="0"/>
                  </a:moveTo>
                  <a:lnTo>
                    <a:pt x="194443" y="0"/>
                  </a:lnTo>
                  <a:lnTo>
                    <a:pt x="194443" y="25131"/>
                  </a:lnTo>
                  <a:lnTo>
                    <a:pt x="0" y="25131"/>
                  </a:lnTo>
                  <a:close/>
                </a:path>
              </a:pathLst>
            </a:custGeom>
            <a:solidFill>
              <a:srgbClr val="C61A34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94443" cy="63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true" rot="0">
            <a:off x="12633690" y="6775329"/>
            <a:ext cx="341512" cy="341512"/>
          </a:xfrm>
          <a:custGeom>
            <a:avLst/>
            <a:gdLst/>
            <a:ahLst/>
            <a:cxnLst/>
            <a:rect r="r" b="b" t="t" l="l"/>
            <a:pathLst>
              <a:path h="341512" w="341512">
                <a:moveTo>
                  <a:pt x="0" y="341512"/>
                </a:moveTo>
                <a:lnTo>
                  <a:pt x="341512" y="341512"/>
                </a:lnTo>
                <a:lnTo>
                  <a:pt x="341512" y="0"/>
                </a:lnTo>
                <a:lnTo>
                  <a:pt x="0" y="0"/>
                </a:lnTo>
                <a:lnTo>
                  <a:pt x="0" y="341512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5400000">
            <a:off x="13900060" y="-789489"/>
            <a:ext cx="2520801" cy="4197679"/>
            <a:chOff x="0" y="0"/>
            <a:chExt cx="663915" cy="110556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63915" cy="1105562"/>
            </a:xfrm>
            <a:custGeom>
              <a:avLst/>
              <a:gdLst/>
              <a:ahLst/>
              <a:cxnLst/>
              <a:rect r="r" b="b" t="t" l="l"/>
              <a:pathLst>
                <a:path h="1105562" w="663915">
                  <a:moveTo>
                    <a:pt x="0" y="0"/>
                  </a:moveTo>
                  <a:lnTo>
                    <a:pt x="663915" y="0"/>
                  </a:lnTo>
                  <a:lnTo>
                    <a:pt x="663915" y="1105562"/>
                  </a:lnTo>
                  <a:lnTo>
                    <a:pt x="0" y="1105562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19050"/>
              <a:ext cx="663915" cy="1086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575971" y="7505013"/>
            <a:ext cx="3113729" cy="1412855"/>
          </a:xfrm>
          <a:custGeom>
            <a:avLst/>
            <a:gdLst/>
            <a:ahLst/>
            <a:cxnLst/>
            <a:rect r="r" b="b" t="t" l="l"/>
            <a:pathLst>
              <a:path h="1412855" w="3113729">
                <a:moveTo>
                  <a:pt x="0" y="0"/>
                </a:moveTo>
                <a:lnTo>
                  <a:pt x="3113729" y="0"/>
                </a:lnTo>
                <a:lnTo>
                  <a:pt x="3113729" y="1412855"/>
                </a:lnTo>
                <a:lnTo>
                  <a:pt x="0" y="14128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3277356" y="5302608"/>
            <a:ext cx="3412344" cy="760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2153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Para melhorar a internet, podemos aumentar a velocidade da rede</a:t>
            </a:r>
          </a:p>
          <a:p>
            <a:pPr algn="l">
              <a:lnSpc>
                <a:spcPts val="1959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13061621" y="4910826"/>
            <a:ext cx="3168979" cy="6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2365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INTERNET LENTA</a:t>
            </a:r>
          </a:p>
          <a:p>
            <a:pPr algn="l">
              <a:lnSpc>
                <a:spcPts val="236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8606767" y="8206957"/>
            <a:ext cx="3426154" cy="763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7"/>
              </a:lnSpc>
            </a:pPr>
            <a:r>
              <a:rPr lang="en-US" sz="2162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usar verificação em dois passos, para aumentar a segurança</a:t>
            </a:r>
          </a:p>
          <a:p>
            <a:pPr algn="l">
              <a:lnSpc>
                <a:spcPts val="196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8250023" y="7557474"/>
            <a:ext cx="3368117" cy="662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96613" indent="-298307" lvl="1">
              <a:lnSpc>
                <a:spcPts val="2514"/>
              </a:lnSpc>
              <a:buFont typeface="Arial"/>
              <a:buChar char="•"/>
            </a:pPr>
            <a:r>
              <a:rPr lang="en-US" sz="2763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SENHA ROUBADA</a:t>
            </a:r>
          </a:p>
          <a:p>
            <a:pPr algn="l">
              <a:lnSpc>
                <a:spcPts val="2514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8502980" y="5538668"/>
            <a:ext cx="3529941" cy="79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22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Para evitar muitas pessoas a imprimir ao mesmo tempo, usamos um sistema de filas</a:t>
            </a:r>
          </a:p>
          <a:p>
            <a:pPr algn="l">
              <a:lnSpc>
                <a:spcPts val="2027"/>
              </a:lnSpc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8349592" y="5025192"/>
            <a:ext cx="3168979" cy="62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2365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MUITAS PESSOAS A IMPRIMIR</a:t>
            </a:r>
          </a:p>
          <a:p>
            <a:pPr algn="l">
              <a:lnSpc>
                <a:spcPts val="2365"/>
              </a:lnSpc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13277356" y="5950211"/>
            <a:ext cx="3168979" cy="264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19"/>
              </a:lnSpc>
            </a:pPr>
            <a:r>
              <a:rPr lang="en-US" sz="1999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Podemos tambem limitar o uso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502980" y="6197216"/>
            <a:ext cx="3529941" cy="289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7"/>
              </a:lnSpc>
            </a:pPr>
            <a:r>
              <a:rPr lang="en-US" sz="2227">
                <a:solidFill>
                  <a:srgbClr val="FFFFFF"/>
                </a:solidFill>
                <a:latin typeface="Nine by Five"/>
                <a:ea typeface="Nine by Five"/>
                <a:cs typeface="Nine by Five"/>
                <a:sym typeface="Nine by Five"/>
              </a:rPr>
              <a:t>FIFO : first in, first out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39109" y="4194207"/>
            <a:ext cx="17961773" cy="219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7"/>
              </a:lnSpc>
            </a:pPr>
            <a:r>
              <a:rPr lang="en-US" sz="16349" spc="-817">
                <a:solidFill>
                  <a:srgbClr val="C61A34"/>
                </a:solidFill>
                <a:latin typeface="CYN Modulator"/>
                <a:ea typeface="CYN Modulator"/>
                <a:cs typeface="CYN Modulator"/>
                <a:sym typeface="CYN Modulator"/>
              </a:rPr>
              <a:t>FIM</a:t>
            </a:r>
          </a:p>
        </p:txBody>
      </p:sp>
      <p:grpSp>
        <p:nvGrpSpPr>
          <p:cNvPr name="Group 3" id="3"/>
          <p:cNvGrpSpPr/>
          <p:nvPr/>
        </p:nvGrpSpPr>
        <p:grpSpPr>
          <a:xfrm rot="5400000">
            <a:off x="2660957" y="635294"/>
            <a:ext cx="4632120" cy="3361532"/>
            <a:chOff x="0" y="0"/>
            <a:chExt cx="1219982" cy="8853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19982" cy="885342"/>
            </a:xfrm>
            <a:custGeom>
              <a:avLst/>
              <a:gdLst/>
              <a:ahLst/>
              <a:cxnLst/>
              <a:rect r="r" b="b" t="t" l="l"/>
              <a:pathLst>
                <a:path h="885342" w="1219982">
                  <a:moveTo>
                    <a:pt x="0" y="0"/>
                  </a:moveTo>
                  <a:lnTo>
                    <a:pt x="1219982" y="0"/>
                  </a:lnTo>
                  <a:lnTo>
                    <a:pt x="1219982" y="885342"/>
                  </a:lnTo>
                  <a:lnTo>
                    <a:pt x="0" y="885342"/>
                  </a:lnTo>
                  <a:close/>
                </a:path>
              </a:pathLst>
            </a:custGeom>
            <a:gradFill rotWithShape="true">
              <a:gsLst>
                <a:gs pos="0">
                  <a:srgbClr val="C61A34">
                    <a:alpha val="100000"/>
                  </a:srgbClr>
                </a:gs>
                <a:gs pos="100000">
                  <a:srgbClr val="C61A34">
                    <a:alpha val="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219982" cy="8662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8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DAHIoyb1Ru8</dc:identifier>
  <dcterms:modified xsi:type="dcterms:W3CDTF">2011-08-01T06:04:30Z</dcterms:modified>
  <cp:revision>1</cp:revision>
  <dc:title>Red and Black Dynamic Cyber Security Evolution Presentation</dc:title>
</cp:coreProperties>
</file>